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Indian Automobile Industry</a:t>
            </a:r>
          </a:p>
          <a:p>
            <a:pPr>
              <a:defRPr sz="2300">
                <a:solidFill>
                  <a:srgbClr val="FFFFFF"/>
                </a:solidFill>
              </a:defRPr>
            </a:pPr>
            <a:r>
              <a:t>Market Intelligence &amp; Competitive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49039"/>
            <a:ext cx="6300892" cy="11387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rPr lang="en-IN" dirty="0"/>
              <a:t>PAYAL JARWAL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lang="en-IN" dirty="0"/>
              <a:t>GOKHALE INSTITUTE OF POLITICS AND ECONOMICS, MA ECONOMICS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FY2020-21 to FY2024-25</a:t>
            </a:r>
            <a:br>
              <a:rPr dirty="0"/>
            </a:br>
            <a:r>
              <a:rPr dirty="0"/>
              <a:t>Excel + PowerPoint | Secondary 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1. Industry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Five-year market and passenger-vehicle growth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8.3%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Industry CAGR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12.2%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Passenger Vehicle CAGR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2.0%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FY25 PV YoY Growth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FY25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Latest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Industry sales recovered strongly after FY2021-22, followed by moderation in annual growth.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Passenger vehicles recorded stronger structural growth than the overall industry over FY2021-25.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YoY growth and CAGR distinguish short-term changes from the longer-term trend.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Source: Project industry dataset; calculations performed in Excel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2. EV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Registered EVs and segment-level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1.43 Lakh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FY21 EV registrations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19.68 Lakh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FY25 EV registrations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≈13.7×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Increase in registrations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2331720" cy="1097280"/>
          </a:xfrm>
          <a:prstGeom prst="roundRect">
            <a:avLst/>
          </a:prstGeom>
          <a:solidFill>
            <a:srgbClr val="F2F5F9"/>
          </a:solidFill>
          <a:ln>
            <a:solidFill>
              <a:srgbClr val="D7DC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F5B96"/>
                </a:solidFill>
              </a:defRPr>
            </a:pPr>
            <a:r>
              <a:t>2.4 pp</a:t>
            </a:r>
          </a:p>
          <a:p>
            <a:pPr algn="ctr">
              <a:defRPr sz="1000">
                <a:solidFill>
                  <a:srgbClr val="5A626C"/>
                </a:solidFill>
              </a:defRPr>
            </a:pPr>
            <a:r>
              <a:t>PV EV penetration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Registered EV volumes increased substantially between FY2020-21 and FY2024-25.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Growth moderated as the annual registration base became larger.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EV adoption differs by vehicle segment; three-wheelers showed a much larger penetration increase than passenger vehicles in the project dataset.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Source: Project EV dataset; calculations performed in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3.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FY2024-25 passenger-vehicle retail 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6583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OEM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FY25 Sales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Market Share</a:t>
                      </a:r>
                    </a:p>
                  </a:txBody>
                  <a:tcPr>
                    <a:solidFill>
                      <a:srgbClr val="182D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Maruti Suzuki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1,671,559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40.25%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Hyundai Motor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559,149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13.46%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Tata Motors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535,960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12.90%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Mahindra &amp; Mahindra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512,626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12.34%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Toyota Kirloskar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275,665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6.64%</a:t>
                      </a:r>
                    </a:p>
                  </a:txBody>
                  <a:tcP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Kia India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241,859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5A626C"/>
                          </a:solidFill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35240" y="155448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5A626C"/>
                </a:solidFill>
              </a:defRPr>
            </a:pPr>
            <a:r>
              <a:t>The six selected OEMs account for approximately 91.4% of the FY25 PV retail market.</a:t>
            </a:r>
          </a:p>
          <a:p>
            <a:pPr>
              <a:spcAft>
                <a:spcPts val="1200"/>
              </a:spcAft>
              <a:defRPr sz="1400">
                <a:solidFill>
                  <a:srgbClr val="5A626C"/>
                </a:solidFill>
              </a:defRPr>
            </a:pPr>
            <a:r>
              <a:t>Maruti is the largest company in the selected comparison by retail market share.</a:t>
            </a:r>
          </a:p>
          <a:p>
            <a:pPr>
              <a:spcAft>
                <a:spcPts val="1200"/>
              </a:spcAft>
              <a:defRPr sz="1400">
                <a:solidFill>
                  <a:srgbClr val="5A626C"/>
                </a:solidFill>
              </a:defRPr>
            </a:pPr>
            <a:r>
              <a:t>Mahindra and Toyota recorded positive FY25 versus FY24 share movement in the project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Source: FADA FY2024-25 retail data; company figures and market shares used in project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4. PESTLE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External factors shaping the Indian automobile industry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828800" cy="530352"/>
          </a:xfrm>
          <a:prstGeom prst="round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Political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325880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</a:defRPr>
            </a:pPr>
            <a:r>
              <a:t>Government support for domestic manufacturing and EV adoption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84831"/>
            <a:ext cx="1828800" cy="530352"/>
          </a:xfrm>
          <a:prstGeom prst="round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Economic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084831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</a:defRPr>
            </a:pPr>
            <a:r>
              <a:t>Growth, interest rates, inflation and vehicle financing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43784"/>
            <a:ext cx="1828800" cy="530352"/>
          </a:xfrm>
          <a:prstGeom prst="round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843784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</a:defRPr>
            </a:pPr>
            <a:r>
              <a:t>Consumer preferences, urbanisation and changing mobility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02735"/>
            <a:ext cx="1828800" cy="530352"/>
          </a:xfrm>
          <a:prstGeom prst="round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Technological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602735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</a:defRPr>
            </a:pPr>
            <a:r>
              <a:t>EVs, batteries, charging and connected-vehicle innovation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61688"/>
            <a:ext cx="1828800" cy="530352"/>
          </a:xfrm>
          <a:prstGeom prst="round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361688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</a:defRPr>
            </a:pPr>
            <a:r>
              <a:t>Vehicle safety, emission standards and regulatory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828800" cy="530352"/>
          </a:xfrm>
          <a:prstGeom prst="roundRect">
            <a:avLst/>
          </a:prstGeom>
          <a:solidFill>
            <a:srgbClr val="18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Environmental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5120640"/>
            <a:ext cx="8503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26C"/>
                </a:solidFill>
              </a:defRPr>
            </a:pPr>
            <a:r>
              <a:t>Emission reduction and transition toward cleaner mobility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Source: Project PESTLE analysis; Government of India policy/regulatory sources used in supporting research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5. Porter's Five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Competitive structure of the Indian passenger-vehicle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B"/>
                </a:solidFill>
              </a:defRPr>
            </a:pPr>
            <a:r>
              <a:t>Competitive Rivalry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280160"/>
            <a:ext cx="1371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5B96"/>
                </a:solidFill>
              </a:defRPr>
            </a:pPr>
            <a: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280160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626C"/>
                </a:solidFill>
              </a:defRPr>
            </a:pPr>
            <a:r>
              <a:t>Several established OEMs compete across segments, SUVs, EVs, technology and brand positioning.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12848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B"/>
                </a:solidFill>
              </a:defRPr>
            </a:pPr>
            <a:r>
              <a:t>Threat of New Entrants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212848"/>
            <a:ext cx="1371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5B96"/>
                </a:solidFill>
              </a:defRPr>
            </a:pPr>
            <a:r>
              <a:t>Low–Medium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2128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626C"/>
                </a:solidFill>
              </a:defRPr>
            </a:pPr>
            <a:r>
              <a:t>Capital intensity, scale, distribution, technology and established brands create entry barriers.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5536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B"/>
                </a:solidFill>
              </a:defRPr>
            </a:pPr>
            <a:r>
              <a:t>Supplier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145536"/>
            <a:ext cx="1371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5B96"/>
                </a:solidFill>
              </a:defRPr>
            </a:pPr>
            <a:r>
              <a:t>Medium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145536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626C"/>
                </a:solidFill>
              </a:defRPr>
            </a:pPr>
            <a:r>
              <a:t>Dependence on components, electronics, batteries and specialised technologies can affect costs and supply.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78224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B"/>
                </a:solidFill>
              </a:defRPr>
            </a:pPr>
            <a:r>
              <a:t>Buyer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078224"/>
            <a:ext cx="1371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5B96"/>
                </a:solidFill>
              </a:defRPr>
            </a:pPr>
            <a:r>
              <a:t>Medium–High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078224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626C"/>
                </a:solidFill>
              </a:defRPr>
            </a:pPr>
            <a:r>
              <a:t>Consumers can compare brands, models, features, prices and financing options.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10912"/>
            <a:ext cx="23774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B"/>
                </a:solidFill>
              </a:defRPr>
            </a:pPr>
            <a:r>
              <a:t>Threat of Substitutes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5010912"/>
            <a:ext cx="1371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F5B96"/>
                </a:solidFill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010912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A626C"/>
                </a:solidFill>
              </a:defRPr>
            </a:pPr>
            <a:r>
              <a:t>Public transport, ride-hailing, two-wheelers and shared mobility provide alternatives to private cars.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Source: Project strategic analysis based on market structure and industry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6. Key Market Intelligence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Evidence-based observations from the project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Industry growth moderated in FY2024-25 after the strong recovery phase.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Passenger vehicles showed a 12.2% FY2021-25 CAGR in the project dataset.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Registered EVs increased from 1.43 lakh in FY2020-21 to 19.68 lakh in FY2024-25.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EV adoption is uneven across vehicle segments, indicating different transition speeds.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The selected six OEMs represented approximately 91.4% of FY25 PV retail sales in the dataset.</a:t>
            </a:r>
          </a:p>
          <a:p>
            <a:pPr>
              <a:spcAft>
                <a:spcPts val="1200"/>
              </a:spcAft>
              <a:defRPr sz="1700">
                <a:solidFill>
                  <a:srgbClr val="5A626C"/>
                </a:solidFill>
              </a:defRPr>
            </a:pPr>
            <a:r>
              <a:t>Market-share movement differed across OEMs, highlighting changing competitive positions.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Methodology: Secondary research, Excel-based calculations, PESTLE and Porter's Five Forces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D4B"/>
                </a:solidFill>
              </a:defRPr>
            </a:pPr>
            <a:r>
              <a:t>7. Methodology &amp;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26C"/>
                </a:solidFill>
              </a:defRPr>
            </a:pPr>
            <a:r>
              <a:t>How the analysis was constructed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5A626C"/>
                </a:solidFill>
              </a:defRPr>
            </a:pPr>
            <a:r>
              <a:t>Period: FY2020-21 to FY2024-25.</a:t>
            </a:r>
          </a:p>
          <a:p>
            <a:pPr>
              <a:spcAft>
                <a:spcPts val="1200"/>
              </a:spcAft>
              <a:defRPr sz="1600">
                <a:solidFill>
                  <a:srgbClr val="5A626C"/>
                </a:solidFill>
              </a:defRPr>
            </a:pPr>
            <a:r>
              <a:t>Industry and segment trends analyzed using the project industry dataset.</a:t>
            </a:r>
          </a:p>
          <a:p>
            <a:pPr>
              <a:spcAft>
                <a:spcPts val="1200"/>
              </a:spcAft>
              <a:defRPr sz="1600">
                <a:solidFill>
                  <a:srgbClr val="5A626C"/>
                </a:solidFill>
              </a:defRPr>
            </a:pPr>
            <a:r>
              <a:t>EV transition analyzed using registered-EV volumes, EV penetration and growth calculations.</a:t>
            </a:r>
          </a:p>
          <a:p>
            <a:pPr>
              <a:spcAft>
                <a:spcPts val="1200"/>
              </a:spcAft>
              <a:defRPr sz="1600">
                <a:solidFill>
                  <a:srgbClr val="5A626C"/>
                </a:solidFill>
              </a:defRPr>
            </a:pPr>
            <a:r>
              <a:t>Competitive analysis uses FY2024-25 passenger-vehicle retail data and FY24/FY25 market-share comparisons.</a:t>
            </a:r>
          </a:p>
          <a:p>
            <a:pPr>
              <a:spcAft>
                <a:spcPts val="1200"/>
              </a:spcAft>
              <a:defRPr sz="1600">
                <a:solidFill>
                  <a:srgbClr val="5A626C"/>
                </a:solidFill>
              </a:defRPr>
            </a:pPr>
            <a:r>
              <a:t>Analytical methods: YoY growth, CAGR, market share, percentage-point change, PESTLE and Porter's Five Forces.</a:t>
            </a:r>
          </a:p>
          <a:p>
            <a:pPr>
              <a:spcAft>
                <a:spcPts val="1200"/>
              </a:spcAft>
              <a:defRPr sz="1600">
                <a:solidFill>
                  <a:srgbClr val="5A626C"/>
                </a:solidFill>
              </a:defRPr>
            </a:pPr>
            <a:r>
              <a:t>Reference institutions: SIAM, FADA, Ministry of Heavy Industries, RBI and other Government of India 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26C"/>
                </a:solidFill>
              </a:defRPr>
            </a:pPr>
            <a:r>
              <a:t>Note: Keep industry-sales and retail-registration measures clearly distinguished when presenting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714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Payal Jarwal</dc:creator>
  <cp:keywords/>
  <dc:description>generated using python-pptx</dc:description>
  <cp:lastModifiedBy>Payal Jarwal</cp:lastModifiedBy>
  <cp:revision>2</cp:revision>
  <dcterms:created xsi:type="dcterms:W3CDTF">2013-01-27T09:14:16Z</dcterms:created>
  <dcterms:modified xsi:type="dcterms:W3CDTF">2026-09-20T08:39:07Z</dcterms:modified>
  <cp:category/>
</cp:coreProperties>
</file>